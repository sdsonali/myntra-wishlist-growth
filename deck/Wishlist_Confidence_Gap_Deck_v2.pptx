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6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 share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4C-44A6-B795-FFDB816D798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54C-44A6-B795-FFDB816D798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54C-44A6-B795-FFDB816D798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54C-44A6-B795-FFDB816D798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54C-44A6-B795-FFDB816D7986}"/>
              </c:ext>
            </c:extLst>
          </c:dPt>
          <c:dPt>
            <c:idx val="5"/>
            <c:invertIfNegative val="0"/>
            <c:bubble3D val="0"/>
            <c:spPr>
              <a:solidFill>
                <a:srgbClr val="0B3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4C-44A6-B795-FFDB816D798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54C-44A6-B795-FFDB816D798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729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Occasion mismatch</c:v>
                </c:pt>
                <c:pt idx="1">
                  <c:v>Found alternative</c:v>
                </c:pt>
                <c:pt idx="2">
                  <c:v>External research</c:v>
                </c:pt>
                <c:pt idx="3">
                  <c:v>Comparison</c:v>
                </c:pt>
                <c:pt idx="4">
                  <c:v>Fit / size</c:v>
                </c:pt>
                <c:pt idx="5">
                  <c:v>Price / deal-waiting</c:v>
                </c:pt>
                <c:pt idx="6">
                  <c:v>Quality / authenticity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2.6</c:v>
                </c:pt>
                <c:pt idx="1">
                  <c:v>5.2</c:v>
                </c:pt>
                <c:pt idx="2">
                  <c:v>10.5</c:v>
                </c:pt>
                <c:pt idx="3">
                  <c:v>11.8</c:v>
                </c:pt>
                <c:pt idx="4">
                  <c:v>13</c:v>
                </c:pt>
                <c:pt idx="5">
                  <c:v>13.9</c:v>
                </c:pt>
                <c:pt idx="6">
                  <c:v>47.8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4C-44A6-B795-FFDB816D79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4B-4D16-B1C8-4B80AA049EC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F4B-4D16-B1C8-4B80AA049EC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F4B-4D16-B1C8-4B80AA049EC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F4B-4D16-B1C8-4B80AA049EC2}"/>
              </c:ext>
            </c:extLst>
          </c:dPt>
          <c:dPt>
            <c:idx val="4"/>
            <c:invertIfNegative val="0"/>
            <c:bubble3D val="0"/>
            <c:spPr>
              <a:solidFill>
                <a:srgbClr val="0B3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F4B-4D16-B1C8-4B80AA049E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729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Fit</c:v>
                </c:pt>
                <c:pt idx="1">
                  <c:v>Occasion / style</c:v>
                </c:pt>
                <c:pt idx="2">
                  <c:v>Quality</c:v>
                </c:pt>
                <c:pt idx="3">
                  <c:v>Comparison</c:v>
                </c:pt>
                <c:pt idx="4">
                  <c:v>Price (out of scope)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4B-4D16-B1C8-4B80AA049E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29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example.com/discovery-tab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hyperlink" Target="https://example.com/survey-for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xample.com/mvp-tab2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xample.com/discovery-tab1" TargetMode="External"/><Relationship Id="rId4" Type="http://schemas.openxmlformats.org/officeDocument/2006/relationships/hyperlink" Target="https://example.com/mvp-tab2" TargetMode="External"/><Relationship Id="rId5" Type="http://schemas.openxmlformats.org/officeDocument/2006/relationships/hyperlink" Target="https://example.com/survey-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93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— MYNTRA GROWTH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Wishlist Confidence Gap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Myntra's wishlist-to-purchase conversion by resolving in-app decision doubt — without discounts, coupons, or cashback.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0109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 / occasion / fashion-forward wishlist items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46177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1960" y="50109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decision confidence, not price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46177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736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50109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monetary incentives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WPCR is stuck at decision confidence, not at “they never open the app”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— WPCR: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users who purchase ≥ 1 wishlisted item within 30 days of adding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wishlisted items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revisited in 30 days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0088" y="25831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27832" y="201168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E8A33D"/>
          </a:solidFill>
          <a:ln w="19050">
            <a:solidFill>
              <a:srgbClr val="B97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Confidence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revisited items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doubt is resolved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25831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8464" y="201168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Conversion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35624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resolved items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31352" y="25831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69096" y="2011680"/>
            <a:ext cx="251460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6256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06256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06256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cart items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7832" y="363016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07293E"/>
          </a:solidFill>
          <a:ln/>
        </p:spPr>
      </p:sp>
      <p:sp>
        <p:nvSpPr>
          <p:cNvPr id="26" name="Text 24"/>
          <p:cNvSpPr/>
          <p:nvPr/>
        </p:nvSpPr>
        <p:spPr>
          <a:xfrm>
            <a:off x="3227832" y="36301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 OUTCOME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33095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bookmarkers → intenders · ethnic &gt; basics · confidence-blocked · once-a-month + 2–4×/month
</a:t>
            </a:r>
            <a:r>
              <a:rPr lang="en-US" sz="12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</a:t>
            </a: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shoppers · price-only waiters (no monetary levers available)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is loudest, fit is real, price is out of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+ App Store + YouTube reviews → LLM-tagged by theme → mention share (n = 550). Reviews under-index silent wishlist freeze — this sets direction, not the full picture.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331720"/>
          <a:ext cx="630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95160" y="1371600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READ-OUT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23760" y="194767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1901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authenticity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195560" y="1901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35640" y="1901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23760" y="23500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3042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size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95560" y="2304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35640" y="23042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23760" y="27523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7452360" y="27066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95560" y="27066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835640" y="27066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31546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7452360" y="3108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research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195560" y="3108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835640" y="3108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23760" y="35570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7452360" y="3511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alternative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195560" y="35112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835640" y="35112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223760" y="39593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/>
          <p:nvPr/>
        </p:nvSpPr>
        <p:spPr>
          <a:xfrm>
            <a:off x="745236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mismatch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195560" y="39136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835640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223760" y="4361688"/>
            <a:ext cx="109728" cy="1097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4" name="Text 31"/>
          <p:cNvSpPr/>
          <p:nvPr/>
        </p:nvSpPr>
        <p:spPr>
          <a:xfrm>
            <a:off x="7452360" y="4315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deal-waiting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195560" y="43159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835640" y="4315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223760" y="476402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in-scope confidence themes dominate; price is the largest single out-of-scope theme and is excluded from this solution.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Engine: </a:t>
            </a:r>
            <a:r>
              <a:rPr lang="en-US" sz="1100" u="sng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[LINK: AI Discovery Engine — Streamlit Tab 1]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— PILOT SURVEY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(n=10): monthly+ shoppers in “Probably” leave the app — 7/10 blockers are confidence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CEF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n=10, not statistically powered; screener leaky (frequency/wishlist-size blank for 7/10). We pursue the 7/10 confidence cluster, not the 3/10 price cluster.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BLOCKER (of 10)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2359152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398264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07293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3982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cluster (comparison + quality + occasion + fit) = 7/10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501091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items: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 ethnic/occasion (Rakhi dress, wedding dress, kurta set, kurta)
</a:t>
            </a:r>
            <a:r>
              <a:rPr lang="en-US" sz="11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6/10 · Yes, definitely 3/10 · Not sure 1/10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80760" y="2084832"/>
            <a:ext cx="5623560" cy="3703320"/>
          </a:xfrm>
          <a:prstGeom prst="roundRect">
            <a:avLst>
              <a:gd name="adj" fmla="val 1481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2402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OUTSIDE-APP BEHAVIOUR — 10/10 did at least one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254203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prices — 6   ·   Visit store — 6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3   ·   Friends — 3   ·   YouTube/Google — 3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32461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UNSTICK THEM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35204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 wanted similar-buyer reviews/photos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39593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COPING TODAY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09360" y="4233672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two sizes, keep the one that fits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per size chart, then exchange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 in the wishlist until payday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</a:t>
            </a:r>
            <a:r>
              <a:rPr lang="en-US" sz="1100" u="sng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[LINK: Google Form viewform]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in-app way to resolve fit, quality, or comparison on ethnic saved items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41732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24–30, Tier 1–2, shop fashion at least once a month, 5+ wishlist items, several dormant 2+ weeks, “Probably” intent, ethnic/occasion or fashion-forward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984248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Confidence Rate (funnel stage 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551176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mechanism to resolve fit, quality (fabric/threadwork vs. photo), or comparison doubt at reconsideration — users leave the app and the loop rarely completes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TODAY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3118104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multiple sizes and return, ask friends, visit stores, search reviews off-app, leave items in an ever-growing wishlist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3685032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anxiety, fewer returns, faster yes/no on occasion purchases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425196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Higher-AOV ethnic slice converts existing saved demand without discounting; avoids inflating returns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07293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0474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05456" y="5276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06624" y="50474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5276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6048" y="50474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(quality+fit in;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04304" y="5276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05472" y="50474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(7/10 confidence;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Probably)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53728" y="5276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54896" y="50474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ethnic-wear confidence, not basics and not discounts (once-a-month included)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Ethnic/occasion/fashion-forward has higher AOV than basics and higher hesitation — same lift moves more GMV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themes (quality, fit, comparison, occasion) outweigh price in both AI discovery and primary research once price is excluded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one mechanism (in-app decision confidence) serves both frequency segments — not two different builds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NOT SOLVING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7731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“add more to wishlist” · reminder/push spam · price or discount levers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8A33D"/>
          </a:solidFill>
          <a:ln w="19050">
            <a:solidFill>
              <a:srgbClr val="B97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DESIGN CASE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2–4×/month intenders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open the app often — their gap is confidence, not return frequency.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822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SCOPE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Once-a-month intenders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dormant-wishlist + confidence pattern. Fewer sessions in a 30-day window means revisit matters too — a segment-width note, not a reason to build re-engagement as the hero.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7A1E"/>
                </a:solidFill>
                <a:latin typeface="Calibri"/>
              </a:rPr>
              <a:t>MVP — FUNCTIONAL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7293E"/>
                </a:solidFill>
                <a:latin typeface="Calibri"/>
              </a:rPr>
              <a:t>The MVP lives on the wishlist: check fit before Move to Bag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127455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C6B73"/>
                </a:solidFill>
                <a:latin typeface="Calibri"/>
              </a:rPr>
              <a:t>Same surface users already open — one extra action at the moment of hesitation, no new destination and no discount.</a:t>
            </a:r>
          </a:p>
        </p:txBody>
      </p:sp>
      <p:sp>
        <p:nvSpPr>
          <p:cNvPr id="6" name="mock_bezel"/>
          <p:cNvSpPr/>
          <p:nvPr/>
        </p:nvSpPr>
        <p:spPr>
          <a:xfrm>
            <a:off x="457200" y="1737360"/>
            <a:ext cx="3429000" cy="3886200"/>
          </a:xfrm>
          <a:prstGeom prst="roundRect">
            <a:avLst>
              <a:gd name="adj" fmla="val 9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ck_screen"/>
          <p:cNvSpPr/>
          <p:nvPr/>
        </p:nvSpPr>
        <p:spPr>
          <a:xfrm>
            <a:off x="566928" y="1847088"/>
            <a:ext cx="3209544" cy="3666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ck_h1"/>
          <p:cNvSpPr txBox="1"/>
          <p:nvPr/>
        </p:nvSpPr>
        <p:spPr>
          <a:xfrm>
            <a:off x="676656" y="1901952"/>
            <a:ext cx="164592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7293E"/>
                </a:solidFill>
                <a:latin typeface="Calibri"/>
              </a:rPr>
              <a:t>Wishlist</a:t>
            </a:r>
          </a:p>
        </p:txBody>
      </p:sp>
      <p:sp>
        <p:nvSpPr>
          <p:cNvPr id="9" name="mock_count"/>
          <p:cNvSpPr txBox="1"/>
          <p:nvPr/>
        </p:nvSpPr>
        <p:spPr>
          <a:xfrm>
            <a:off x="2194560" y="1938528"/>
            <a:ext cx="14630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 i="0">
                <a:solidFill>
                  <a:srgbClr val="5C6B73"/>
                </a:solidFill>
                <a:latin typeface="Calibri"/>
              </a:rPr>
              <a:t>7 items</a:t>
            </a:r>
          </a:p>
        </p:txBody>
      </p:sp>
      <p:sp>
        <p:nvSpPr>
          <p:cNvPr id="10" name="mock_rule"/>
          <p:cNvSpPr/>
          <p:nvPr/>
        </p:nvSpPr>
        <p:spPr>
          <a:xfrm>
            <a:off x="676656" y="2212848"/>
            <a:ext cx="2990088" cy="10972"/>
          </a:xfrm>
          <a:prstGeom prst="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mock_img0" descr="mvp-anarka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304288"/>
            <a:ext cx="1325880" cy="1325880"/>
          </a:xfrm>
          <a:prstGeom prst="rect">
            <a:avLst/>
          </a:prstGeom>
        </p:spPr>
      </p:pic>
      <p:sp>
        <p:nvSpPr>
          <p:cNvPr id="12" name="mock_heart0"/>
          <p:cNvSpPr txBox="1"/>
          <p:nvPr/>
        </p:nvSpPr>
        <p:spPr>
          <a:xfrm>
            <a:off x="1792224" y="2340864"/>
            <a:ext cx="237744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3F6C"/>
                </a:solidFill>
                <a:latin typeface="Calibri"/>
              </a:rPr>
              <a:t>♥</a:t>
            </a:r>
          </a:p>
        </p:txBody>
      </p:sp>
      <p:sp>
        <p:nvSpPr>
          <p:cNvPr id="13" name="mock_chip0"/>
          <p:cNvSpPr/>
          <p:nvPr/>
        </p:nvSpPr>
        <p:spPr>
          <a:xfrm>
            <a:off x="722376" y="3346704"/>
            <a:ext cx="1261872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ock_chip0_t"/>
          <p:cNvSpPr txBox="1"/>
          <p:nvPr/>
        </p:nvSpPr>
        <p:spPr>
          <a:xfrm>
            <a:off x="722376" y="3374136"/>
            <a:ext cx="126187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07293E"/>
                </a:solidFill>
                <a:latin typeface="Calibri"/>
              </a:rPr>
              <a:t>Fit confidence 67</a:t>
            </a:r>
          </a:p>
        </p:txBody>
      </p:sp>
      <p:sp>
        <p:nvSpPr>
          <p:cNvPr id="15" name="mock_brand0"/>
          <p:cNvSpPr txBox="1"/>
          <p:nvPr/>
        </p:nvSpPr>
        <p:spPr>
          <a:xfrm>
            <a:off x="676656" y="3675887"/>
            <a:ext cx="1463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7293E"/>
                </a:solidFill>
                <a:latin typeface="Calibri"/>
              </a:rPr>
              <a:t>Libas</a:t>
            </a:r>
          </a:p>
        </p:txBody>
      </p:sp>
      <p:sp>
        <p:nvSpPr>
          <p:cNvPr id="16" name="mock_title0"/>
          <p:cNvSpPr txBox="1"/>
          <p:nvPr/>
        </p:nvSpPr>
        <p:spPr>
          <a:xfrm>
            <a:off x="676656" y="3858768"/>
            <a:ext cx="1463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C6B73"/>
                </a:solidFill>
                <a:latin typeface="Calibri"/>
              </a:rPr>
              <a:t>Embroidered Anarkali Suit</a:t>
            </a:r>
          </a:p>
        </p:txBody>
      </p:sp>
      <p:sp>
        <p:nvSpPr>
          <p:cNvPr id="17" name="mock_price0"/>
          <p:cNvSpPr txBox="1"/>
          <p:nvPr/>
        </p:nvSpPr>
        <p:spPr>
          <a:xfrm>
            <a:off x="676656" y="4151376"/>
            <a:ext cx="1463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Calibri"/>
              </a:rPr>
              <a:t>Rs. 2499</a:t>
            </a:r>
          </a:p>
        </p:txBody>
      </p:sp>
      <p:sp>
        <p:nvSpPr>
          <p:cNvPr id="18" name="mock_bag0"/>
          <p:cNvSpPr/>
          <p:nvPr/>
        </p:nvSpPr>
        <p:spPr>
          <a:xfrm>
            <a:off x="676656" y="4389120"/>
            <a:ext cx="1417320" cy="26517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FF3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ock_bag0_t"/>
          <p:cNvSpPr txBox="1"/>
          <p:nvPr/>
        </p:nvSpPr>
        <p:spPr>
          <a:xfrm>
            <a:off x="676656" y="4416552"/>
            <a:ext cx="1417320" cy="265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3F6C"/>
                </a:solidFill>
                <a:latin typeface="Calibri"/>
              </a:rPr>
              <a:t>MOVE TO BAG</a:t>
            </a:r>
          </a:p>
        </p:txBody>
      </p:sp>
      <p:sp>
        <p:nvSpPr>
          <p:cNvPr id="20" name="mock_fit0"/>
          <p:cNvSpPr/>
          <p:nvPr/>
        </p:nvSpPr>
        <p:spPr>
          <a:xfrm>
            <a:off x="676656" y="4690872"/>
            <a:ext cx="1417320" cy="265176"/>
          </a:xfrm>
          <a:prstGeom prst="roundRect">
            <a:avLst>
              <a:gd name="adj" fmla="val 35000"/>
            </a:avLst>
          </a:prstGeom>
          <a:solidFill>
            <a:srgbClr val="FF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ock_fit0_t"/>
          <p:cNvSpPr txBox="1"/>
          <p:nvPr/>
        </p:nvSpPr>
        <p:spPr>
          <a:xfrm>
            <a:off x="676656" y="4718304"/>
            <a:ext cx="1417320" cy="265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CHECK FIT</a:t>
            </a:r>
          </a:p>
        </p:txBody>
      </p:sp>
      <p:pic>
        <p:nvPicPr>
          <p:cNvPr id="22" name="mock_img1" descr="mvp-leheng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44" y="2304288"/>
            <a:ext cx="1325880" cy="1325880"/>
          </a:xfrm>
          <a:prstGeom prst="rect">
            <a:avLst/>
          </a:prstGeom>
        </p:spPr>
      </p:pic>
      <p:sp>
        <p:nvSpPr>
          <p:cNvPr id="23" name="mock_heart1"/>
          <p:cNvSpPr txBox="1"/>
          <p:nvPr/>
        </p:nvSpPr>
        <p:spPr>
          <a:xfrm>
            <a:off x="3364991" y="2340864"/>
            <a:ext cx="237744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3F6C"/>
                </a:solidFill>
                <a:latin typeface="Calibri"/>
              </a:rPr>
              <a:t>♥</a:t>
            </a:r>
          </a:p>
        </p:txBody>
      </p:sp>
      <p:sp>
        <p:nvSpPr>
          <p:cNvPr id="24" name="mock_chip1"/>
          <p:cNvSpPr/>
          <p:nvPr/>
        </p:nvSpPr>
        <p:spPr>
          <a:xfrm>
            <a:off x="2295144" y="3346704"/>
            <a:ext cx="1261872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ock_chip1_t"/>
          <p:cNvSpPr txBox="1"/>
          <p:nvPr/>
        </p:nvSpPr>
        <p:spPr>
          <a:xfrm>
            <a:off x="2295144" y="3374136"/>
            <a:ext cx="126187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3F6C"/>
                </a:solidFill>
                <a:latin typeface="Calibri"/>
              </a:rPr>
              <a:t>Need more reviews</a:t>
            </a:r>
          </a:p>
        </p:txBody>
      </p:sp>
      <p:sp>
        <p:nvSpPr>
          <p:cNvPr id="26" name="mock_brand1"/>
          <p:cNvSpPr txBox="1"/>
          <p:nvPr/>
        </p:nvSpPr>
        <p:spPr>
          <a:xfrm>
            <a:off x="2249424" y="3675887"/>
            <a:ext cx="1463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7293E"/>
                </a:solidFill>
                <a:latin typeface="Calibri"/>
              </a:rPr>
              <a:t>Kalini</a:t>
            </a:r>
          </a:p>
        </p:txBody>
      </p:sp>
      <p:sp>
        <p:nvSpPr>
          <p:cNvPr id="27" name="mock_title1"/>
          <p:cNvSpPr txBox="1"/>
          <p:nvPr/>
        </p:nvSpPr>
        <p:spPr>
          <a:xfrm>
            <a:off x="2249424" y="3858768"/>
            <a:ext cx="1463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C6B73"/>
                </a:solidFill>
                <a:latin typeface="Calibri"/>
              </a:rPr>
              <a:t>Embroidered Lehenga Set</a:t>
            </a:r>
          </a:p>
        </p:txBody>
      </p:sp>
      <p:sp>
        <p:nvSpPr>
          <p:cNvPr id="28" name="mock_price1"/>
          <p:cNvSpPr txBox="1"/>
          <p:nvPr/>
        </p:nvSpPr>
        <p:spPr>
          <a:xfrm>
            <a:off x="2249424" y="4151376"/>
            <a:ext cx="14630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Calibri"/>
              </a:rPr>
              <a:t>Rs. 4499</a:t>
            </a:r>
          </a:p>
        </p:txBody>
      </p:sp>
      <p:sp>
        <p:nvSpPr>
          <p:cNvPr id="29" name="mock_bag1"/>
          <p:cNvSpPr/>
          <p:nvPr/>
        </p:nvSpPr>
        <p:spPr>
          <a:xfrm>
            <a:off x="2249424" y="4389120"/>
            <a:ext cx="1417320" cy="26517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FF3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ock_bag1_t"/>
          <p:cNvSpPr txBox="1"/>
          <p:nvPr/>
        </p:nvSpPr>
        <p:spPr>
          <a:xfrm>
            <a:off x="2249424" y="4416552"/>
            <a:ext cx="1417320" cy="265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3F6C"/>
                </a:solidFill>
                <a:latin typeface="Calibri"/>
              </a:rPr>
              <a:t>MOVE TO BAG</a:t>
            </a:r>
          </a:p>
        </p:txBody>
      </p:sp>
      <p:sp>
        <p:nvSpPr>
          <p:cNvPr id="31" name="mock_fit1"/>
          <p:cNvSpPr/>
          <p:nvPr/>
        </p:nvSpPr>
        <p:spPr>
          <a:xfrm>
            <a:off x="2249424" y="4690872"/>
            <a:ext cx="1417320" cy="265176"/>
          </a:xfrm>
          <a:prstGeom prst="roundRect">
            <a:avLst>
              <a:gd name="adj" fmla="val 35000"/>
            </a:avLst>
          </a:prstGeom>
          <a:solidFill>
            <a:srgbClr val="FF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ock_fit1_t"/>
          <p:cNvSpPr txBox="1"/>
          <p:nvPr/>
        </p:nvSpPr>
        <p:spPr>
          <a:xfrm>
            <a:off x="2249424" y="4718304"/>
            <a:ext cx="1417320" cy="265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CHECK FIT</a:t>
            </a:r>
          </a:p>
        </p:txBody>
      </p:sp>
      <p:sp>
        <p:nvSpPr>
          <p:cNvPr id="33" name="mock_scroll"/>
          <p:cNvSpPr txBox="1"/>
          <p:nvPr/>
        </p:nvSpPr>
        <p:spPr>
          <a:xfrm>
            <a:off x="676656" y="5047488"/>
            <a:ext cx="2990088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C6B73"/>
                </a:solidFill>
                <a:latin typeface="Calibri"/>
              </a:rPr>
              <a:t>Scroll for 5 more saved items</a:t>
            </a:r>
          </a:p>
        </p:txBody>
      </p:sp>
      <p:sp>
        <p:nvSpPr>
          <p:cNvPr id="34" name="mock_note"/>
          <p:cNvSpPr txBox="1"/>
          <p:nvPr/>
        </p:nvSpPr>
        <p:spPr>
          <a:xfrm>
            <a:off x="676656" y="5257800"/>
            <a:ext cx="2990088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1">
                <a:solidFill>
                  <a:srgbClr val="5C6B73"/>
                </a:solidFill>
                <a:latin typeface="Calibri"/>
              </a:rPr>
              <a:t>Prototype, not the live Myntra 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69080" y="1737360"/>
            <a:ext cx="3794760" cy="38862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1847088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97A1E"/>
                </a:solidFill>
                <a:latin typeface="Calibri"/>
              </a:rPr>
              <a:t>CHECK FIT — OPENS ON THAT SAVED 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2103120"/>
            <a:ext cx="342900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7293E"/>
                </a:solidFill>
                <a:latin typeface="Calibri"/>
              </a:rPr>
              <a:t>Libas · Embroidered Anarkali Suit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322576"/>
            <a:ext cx="342900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C6B73"/>
                </a:solidFill>
                <a:latin typeface="Calibri"/>
              </a:rPr>
              <a:t>Saved 3 weeks · intent: Probably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2578608"/>
            <a:ext cx="3429000" cy="36576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651760"/>
            <a:ext cx="3429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7293E"/>
                </a:solidFill>
                <a:latin typeface="Calibri"/>
              </a:rPr>
              <a:t>Fit confidence 67 — labelled, not a black box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017520"/>
            <a:ext cx="34290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From this item's 15 reviews: 3 read true-to-size, 3 say size up, 3 praise the threadwork, 2 flag average lining.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3602736"/>
            <a:ext cx="342900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3657600"/>
            <a:ext cx="320040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1A1A1A"/>
                </a:solidFill>
                <a:latin typeface="Calibri"/>
              </a:rPr>
              <a:t>“Will the work look cheap in person? Should I size up for daytime Rakhi?”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4151376"/>
            <a:ext cx="3429000" cy="7132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The answer quotes those reviews back with counts, and says what the reviews do not cover — instead of inventing a percentage.</a:t>
            </a:r>
          </a:p>
        </p:txBody>
      </p:sp>
      <p:sp>
        <p:nvSpPr>
          <p:cNvPr id="45" name="mock_prov"/>
          <p:cNvSpPr/>
          <p:nvPr/>
        </p:nvSpPr>
        <p:spPr>
          <a:xfrm>
            <a:off x="4251960" y="4919472"/>
            <a:ext cx="164592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EAE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ock_prov_t"/>
          <p:cNvSpPr txBox="1"/>
          <p:nvPr/>
        </p:nvSpPr>
        <p:spPr>
          <a:xfrm>
            <a:off x="4251960" y="4946904"/>
            <a:ext cx="164592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7293E"/>
                </a:solidFill>
                <a:latin typeface="Calibri"/>
              </a:rPr>
              <a:t>All 15 reviews shown</a:t>
            </a:r>
          </a:p>
        </p:txBody>
      </p:sp>
      <p:sp>
        <p:nvSpPr>
          <p:cNvPr id="47" name="mock_cmp"/>
          <p:cNvSpPr/>
          <p:nvPr/>
        </p:nvSpPr>
        <p:spPr>
          <a:xfrm>
            <a:off x="6035040" y="4919472"/>
            <a:ext cx="164592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EAE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ock_cmp_t"/>
          <p:cNvSpPr txBox="1"/>
          <p:nvPr/>
        </p:nvSpPr>
        <p:spPr>
          <a:xfrm>
            <a:off x="6035040" y="4946904"/>
            <a:ext cx="164592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7293E"/>
                </a:solidFill>
                <a:latin typeface="Calibri"/>
              </a:rPr>
              <a:t>Compare max 3 saved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1847088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97A1E"/>
                </a:solidFill>
                <a:latin typeface="Calibri"/>
              </a:rPr>
              <a:t>WHAT IT DOES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28431" y="212140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2139696"/>
            <a:ext cx="25603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7293E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4" y="2112264"/>
            <a:ext cx="33558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7293E"/>
                </a:solidFill>
                <a:latin typeface="Calibri"/>
              </a:rPr>
              <a:t>Confidence score with provenance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2340863"/>
            <a:ext cx="3355848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Counted from that item's reviews and return reasons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28431" y="2724912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8431" y="2743200"/>
            <a:ext cx="25603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7293E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4" y="2715768"/>
            <a:ext cx="33558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7293E"/>
                </a:solidFill>
                <a:latin typeface="Calibri"/>
              </a:rPr>
              <a:t>Ask on the saved item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5904" y="2944368"/>
            <a:ext cx="3355848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Fit, fabric or threadwork versus the photo, occasion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28431" y="332841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28431" y="3346704"/>
            <a:ext cx="25603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7293E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5904" y="3319272"/>
            <a:ext cx="33558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7293E"/>
                </a:solidFill>
                <a:latin typeface="Calibri"/>
              </a:rPr>
              <a:t>Personalised fit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5904" y="3547872"/>
            <a:ext cx="3355848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Cross-references the shopper's past orders where available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28431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8431" y="3950207"/>
            <a:ext cx="256032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7293E"/>
                </a:solidFill>
                <a:latin typeface="Calibr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75904" y="3922776"/>
            <a:ext cx="33558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7293E"/>
                </a:solidFill>
                <a:latin typeface="Calibri"/>
              </a:rPr>
              <a:t>Compare, capped at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5904" y="4151376"/>
            <a:ext cx="3355848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Only similar items already on the wishlist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28431" y="4590288"/>
            <a:ext cx="3703320" cy="1033271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93024" y="4700016"/>
            <a:ext cx="338328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7293E"/>
                </a:solidFill>
                <a:latin typeface="Calibri"/>
              </a:rPr>
              <a:t>COLD START, HANDLED HONESTLY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4937760"/>
            <a:ext cx="338328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C6B73"/>
                </a:solidFill>
                <a:latin typeface="Calibri"/>
              </a:rPr>
              <a:t>The Kalini lehenga has 3 reviews, so its card reads “Need more reviews” and falls back to brand size chart and Q&amp;A.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742432"/>
            <a:ext cx="11274552" cy="402336"/>
          </a:xfrm>
          <a:prstGeom prst="rect">
            <a:avLst/>
          </a:prstGeom>
          <a:solidFill>
            <a:srgbClr val="07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806440"/>
            <a:ext cx="108813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Moves stage 2 (decision confidence): Move to Bag stays the shopper's decision, and nothing in the flow offers a discount.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199632"/>
            <a:ext cx="8686800" cy="237744"/>
          </a:xfrm>
          <a:prstGeom prst="rect">
            <a:avLst/>
          </a:prstGeom>
          <a:noFill/>
        </p:spPr>
        <p:txBody>
          <a:bodyPr wrap="square" lIns="18288" tIns="0" bIns="0">
            <a:spAutoFit/>
          </a:bodyPr>
          <a:lstStyle/>
          <a:p>
            <a:r>
              <a:rPr sz="1100" b="1">
                <a:solidFill>
                  <a:srgbClr val="07293E"/>
                </a:solidFill>
                <a:latin typeface="Calibri"/>
              </a:rPr>
              <a:t>Deployed MVP: </a:t>
            </a:r>
            <a:r>
              <a:rPr sz="1100" b="0">
                <a:solidFill>
                  <a:srgbClr val="B97A1E"/>
                </a:solidFill>
                <a:latin typeface="Calibri"/>
              </a:rPr>
              <a:t>[LINK: Deployed MVP — Streamlit Tab 2]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Product Manager, Growth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C6B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WPCR + resolution rate + return/wishlist-add guardrails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07293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WPCR — 30-day wishlist-to-purchase conversion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 w="12700">
            <a:solidFill>
              <a:srgbClr val="B97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 METRIC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Confidence 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assistant interactions ending in add-to-cart, a “this helped” signal, or a clear decide-no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Engagement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 visits where the tool is opened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increase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43434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Wishlist-add rate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79392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decrease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0" y="43434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Fit/quality support contacts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36992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decrease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CEF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Context-only note: for once-a-month shoppers, also watch revisit rate as background context — not the MVP's job.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72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De-risk cold start, hallucination, trust, hiding, compare-overload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New/low-review ethnic items lack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37960" y="15087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brand-level size charts and community Q&amp;A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03704"/>
            <a:ext cx="11247120" cy="786384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951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2951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fit/quality claims erode trust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29514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strictly in real review/return text; show provenance; use confidence caveats, not absolute claims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AI-only distrust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0815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trust a single AI summary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30815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 user reviews alongside the AI summary, never AI-only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11247120" cy="786384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679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discoverability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8679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goes unused if buried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37960" y="386791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directly inside the wishlist card, not a separate section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465429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Compare-overload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6542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options re-creates decision fatigue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46542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at 2–3 saved similar items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07293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86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carried through every mitigation: never a discount, coupon, or cashback tool.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93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+ artefact links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fit, quality (photo vs. real fabric/threadwork), and comparison doubt at hesitation on high-AOV ethnic/forward saved items, for shoppers who buy at least monthly — lifting decision-confidence rate and WPCR without touching price.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ENGINE</a:t>
            </a:r>
            <a:endParaRPr lang="en-US" sz="105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868680" y="35844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[LINK: AI Discovery Engine — Streamlit Tab 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MVP</a:t>
            </a:r>
            <a:endParaRPr lang="en-US" sz="1050" dirty="0"/>
          </a:p>
        </p:txBody>
      </p:sp>
      <p:sp>
        <p:nvSpPr>
          <p:cNvPr id="12" name="Text 10">
            <a:hlinkClick r:id="rId4"/>
          </p:cNvPr>
          <p:cNvSpPr/>
          <p:nvPr/>
        </p:nvSpPr>
        <p:spPr>
          <a:xfrm>
            <a:off x="868680" y="45445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[LINK: Deployed MVP — Tab 2]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0B3D5C"/>
          </a:solidFill>
          <a:ln w="12700">
            <a:solidFill>
              <a:srgbClr val="1D5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</a:t>
            </a:r>
            <a:endParaRPr lang="en-US" sz="1050" dirty="0"/>
          </a:p>
        </p:txBody>
      </p:sp>
      <p:sp>
        <p:nvSpPr>
          <p:cNvPr id="15" name="Text 13">
            <a:hlinkClick r:id="rId5"/>
          </p:cNvPr>
          <p:cNvSpPr/>
          <p:nvPr/>
        </p:nvSpPr>
        <p:spPr>
          <a:xfrm>
            <a:off x="868680" y="55046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[LINK: Google Form viewform]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Manager, Growth Team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itch</cp:lastModifiedBy>
  <cp:revision>1</cp:revision>
  <dcterms:created xsi:type="dcterms:W3CDTF">2026-08-19T06:58:59Z</dcterms:created>
  <dcterms:modified xsi:type="dcterms:W3CDTF">2026-08-19T13:43:39Z</dcterms:modified>
</cp:coreProperties>
</file>