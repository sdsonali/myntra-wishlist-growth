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yntra-wishlist-growth.streamlit.app/" TargetMode="External"/><Relationship Id="rId3" Type="http://schemas.openxmlformats.org/officeDocument/2006/relationships/hyperlink" Target="https://docs.google.com/forms/d/e/1FAIpQLSdPOnDtw1lQGARNYOo2zOoUMpwlOAcLxIzmPaLz27XYN0TjNQ/viewfor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yntra-wishlist-growth.streamlit.app/" TargetMode="Externa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yntra-wishlist-growth.streamlit.app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google.com/forms/d/e/1FAIpQLSdPOnDtw1lQGARNYOo2zOoUMpwlOAcLxIzmPaLz27XYN0TjNQ/viewfor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amazon.in/fashion" TargetMode="External"/><Relationship Id="rId3" Type="http://schemas.openxmlformats.org/officeDocument/2006/relationships/hyperlink" Target="https://www.flipkart.com/" TargetMode="External"/><Relationship Id="rId4" Type="http://schemas.openxmlformats.org/officeDocument/2006/relationships/hyperlink" Target="https://www.nykaafashion.com/" TargetMode="External"/><Relationship Id="rId5" Type="http://schemas.openxmlformats.org/officeDocument/2006/relationships/hyperlink" Target="https://www.ajio.com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yntra-wishlist-growth.streamlit.app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C4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32004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C46B2F"/>
                </a:solidFill>
                <a:latin typeface="Calibri"/>
              </a:rPr>
              <a:t>PRODUCT STRATEGY  —  MYNTRA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10515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FFFFFF"/>
                </a:solidFill>
                <a:latin typeface="Calibri"/>
              </a:rPr>
              <a:t>CLOSING THE WISHLIST CONFIDENCE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57400"/>
            <a:ext cx="10972800" cy="77724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FFFFFF"/>
                </a:solidFill>
                <a:latin typeface="Calibri"/>
              </a:rPr>
              <a:t>Improving Myntra's wishlist-to-purchase conversion by resolving in-app decision doubt — without discounts, coupons, or cashback.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71800"/>
            <a:ext cx="11155680" cy="777240"/>
          </a:xfrm>
          <a:prstGeom prst="roundRect">
            <a:avLst>
              <a:gd name="adj" fmla="val 8000"/>
            </a:avLst>
          </a:prstGeom>
          <a:solidFill>
            <a:srgbClr val="162E4C"/>
          </a:solidFill>
          <a:ln w="12700">
            <a:solidFill>
              <a:srgbClr val="C46B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10881360" cy="64008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FFFFFF"/>
                </a:solidFill>
                <a:latin typeface="Calibri"/>
              </a:rPr>
              <a:t>For 24–30 shoppers with at least one unsold saved item, resolve fit / quality / compare doubt on the wishlist — so WPCR moves without discounts.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93192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041648"/>
            <a:ext cx="3291840" cy="32004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C46B2F"/>
                </a:solidFill>
                <a:latin typeface="Calibri"/>
              </a:rPr>
              <a:t>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70832"/>
            <a:ext cx="3291840" cy="10515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Ethnic / occasion / fashion-forward saved items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59" y="393192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4041648"/>
            <a:ext cx="3291840" cy="32004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C46B2F"/>
                </a:solidFill>
                <a:latin typeface="Calibri"/>
              </a:rPr>
              <a:t>LEVER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370832"/>
            <a:ext cx="3291840" cy="10515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In-app decision confidence — not price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393192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4041648"/>
            <a:ext cx="3291840" cy="32004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C46B2F"/>
                </a:solidFill>
                <a:latin typeface="Calibri"/>
              </a:rPr>
              <a:t>CONSTRAINT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370832"/>
            <a:ext cx="3291840" cy="10515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No monetary incentives of any kind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053328"/>
            <a:ext cx="9509760" cy="68580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FFFFFF"/>
                </a:solidFill>
                <a:latin typeface="Calibri"/>
              </a:rPr>
              <a:t>Resources  ·  </a:t>
            </a:r>
            <a:r>
              <a:rPr sz="1400" b="1" i="0" u="sng">
                <a:solidFill>
                  <a:srgbClr val="1F4E79"/>
                </a:solidFill>
                <a:latin typeface="Calibri"/>
                <a:hlinkClick r:id="rId2"/>
              </a:rPr>
              <a:t>Live app (Discovery + MVP)</a:t>
            </a:r>
            <a:r>
              <a:rPr sz="1400" b="0" i="0" u="none">
                <a:solidFill>
                  <a:srgbClr val="FFFFFF"/>
                </a:solidFill>
                <a:latin typeface="Calibri"/>
              </a:rPr>
              <a:t>   ·   </a:t>
            </a:r>
            <a:r>
              <a:rPr sz="1400" b="1" i="0" u="sng">
                <a:solidFill>
                  <a:srgbClr val="1F4E79"/>
                </a:solidFill>
                <a:latin typeface="Calibri"/>
                <a:hlinkClick r:id="rId3"/>
              </a:rPr>
              <a:t>Interview form</a:t>
            </a:r>
            <a:r>
              <a:rPr sz="1400" b="1" i="0" u="none">
                <a:solidFill>
                  <a:srgbClr val="FFFFFF"/>
                </a:solidFill>
                <a:latin typeface="Calibri"/>
              </a:rPr>
              <a:t>   ·   Product Manager, Growth 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053328"/>
            <a:ext cx="1280160" cy="68580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73152"/>
            <a:ext cx="1161288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C46B2F"/>
                </a:solidFill>
                <a:latin typeface="Calibri"/>
              </a:rPr>
              <a:t>THE BUSINESS METRIC, BROKEN 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292608"/>
            <a:ext cx="11612880" cy="50292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Saved demand dies at decision confidence, not at re-engagement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822960"/>
            <a:ext cx="11612880" cy="13716"/>
          </a:xfrm>
          <a:prstGeom prst="rect">
            <a:avLst/>
          </a:prstGeom>
          <a:solidFill>
            <a:srgbClr val="C4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877824"/>
            <a:ext cx="11612880" cy="292608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4A555C"/>
                </a:solidFill>
                <a:latin typeface="Calibri"/>
              </a:rPr>
              <a:t>NORTH STAR — WPCR: share of users who purchase ≥1 wishlisted item within 30 days of adding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07008"/>
            <a:ext cx="2212848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4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1207008"/>
            <a:ext cx="2212848" cy="45720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Add to wishlist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39" y="1353312"/>
            <a:ext cx="256032" cy="292608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C46B2F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1207008"/>
            <a:ext cx="2212848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4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1207008"/>
            <a:ext cx="2212848" cy="45720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Reconsideration 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1353312"/>
            <a:ext cx="256032" cy="292608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C46B2F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10912" y="1207008"/>
            <a:ext cx="2212848" cy="713232"/>
          </a:xfrm>
          <a:prstGeom prst="roundRect">
            <a:avLst>
              <a:gd name="adj" fmla="val 8000"/>
            </a:avLst>
          </a:prstGeom>
          <a:solidFill>
            <a:srgbClr val="C46B2F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10912" y="1207008"/>
            <a:ext cx="2212848" cy="45720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FFFFFF"/>
                </a:solidFill>
                <a:latin typeface="Calibri"/>
              </a:rPr>
              <a:t>Confidence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0912" y="1572768"/>
            <a:ext cx="2212848" cy="292608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FFFFFF"/>
                </a:solidFill>
                <a:latin typeface="Calibri"/>
              </a:rPr>
              <a:t>TARGET STAGE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95744" y="1353312"/>
            <a:ext cx="256032" cy="292608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C46B2F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70064" y="1207008"/>
            <a:ext cx="2212848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4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0064" y="1207008"/>
            <a:ext cx="2212848" cy="45720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54896" y="1353312"/>
            <a:ext cx="256032" cy="292608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C46B2F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29216" y="1207008"/>
            <a:ext cx="2212848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4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29216" y="1207008"/>
            <a:ext cx="2212848" cy="45720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Checkout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" y="1993392"/>
            <a:ext cx="11612880" cy="292608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Highest-potential areas from the discovery corpus, and how the MVP can move WPCR (mechanism only — no invented lift %).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92608" y="2286000"/>
          <a:ext cx="1161288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200400"/>
                <a:gridCol w="5303520"/>
              </a:tblGrid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 u="none">
                          <a:solidFill>
                            <a:srgbClr val="FFFFFF"/>
                          </a:solidFill>
                          <a:latin typeface="Calibri"/>
                        </a:rPr>
                        <a:t>Opportunity (corpus)</a:t>
                      </a:r>
                    </a:p>
                  </a:txBody>
                  <a:tcPr marL="45720" marR="45720" marT="27432" marB="27432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 u="none">
                          <a:solidFill>
                            <a:srgbClr val="FFFFFF"/>
                          </a:solidFill>
                          <a:latin typeface="Calibri"/>
                        </a:rPr>
                        <a:t>MVP surface</a:t>
                      </a:r>
                    </a:p>
                  </a:txBody>
                  <a:tcPr marL="45720" marR="45720" marT="27432" marB="27432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 u="none">
                          <a:solidFill>
                            <a:srgbClr val="FFFFFF"/>
                          </a:solidFill>
                          <a:latin typeface="Calibri"/>
                        </a:rPr>
                        <a:t>How it can move WPCR</a:t>
                      </a:r>
                    </a:p>
                  </a:txBody>
                  <a:tcPr marL="45720" marR="45720" marT="27432" marB="27432">
                    <a:solidFill>
                      <a:srgbClr val="1E3A5F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Quality doubt 44.7%  IN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Still deciding — this SKU's reviews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Turns photo-vs-real freeze into a yes/no without leaving the app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Fit 20.3%  IN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Size + Size up, then buy / Need more info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Cuts the “order two sizes and wait” delay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Found alt 7.9% + leave-app 10.8%  IN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Compare 2–3 + in-app answer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Closes the loop on Myntra instead of another app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 u="none">
                          <a:solidFill>
                            <a:srgbClr val="4A555C"/>
                          </a:solidFill>
                          <a:latin typeface="Calibri"/>
                        </a:rPr>
                        <a:t>Price 23.8%  OUT</a:t>
                      </a:r>
                    </a:p>
                  </a:txBody>
                  <a:tcPr marL="45720" marR="45720" marT="27432" marB="27432">
                    <a:solidFill>
                      <a:srgbClr val="F6EB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 u="none">
                          <a:solidFill>
                            <a:srgbClr val="4A555C"/>
                          </a:solidFill>
                          <a:latin typeface="Calibri"/>
                        </a:rPr>
                        <a:t>Out of scope</a:t>
                      </a:r>
                    </a:p>
                  </a:txBody>
                  <a:tcPr marL="45720" marR="45720" marT="27432" marB="27432">
                    <a:solidFill>
                      <a:srgbClr val="F6EB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4A555C"/>
                          </a:solidFill>
                          <a:latin typeface="Calibri"/>
                        </a:rPr>
                        <a:t>No monetary lever in this brief</a:t>
                      </a:r>
                    </a:p>
                  </a:txBody>
                  <a:tcPr marL="45720" marR="45720" marT="27432" marB="27432">
                    <a:solidFill>
                      <a:srgbClr val="F6EBDC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No urgency 2.1%  IN (secondary)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Express 30-min demo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Optional urgency nudge; not the hero; not live logistics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292608" y="5623560"/>
            <a:ext cx="5669280" cy="868680"/>
          </a:xfrm>
          <a:prstGeom prst="roundRect">
            <a:avLst>
              <a:gd name="adj" fmla="val 8000"/>
            </a:avLst>
          </a:prstGeom>
          <a:solidFill>
            <a:srgbClr val="E6EEF4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44768" y="5623560"/>
            <a:ext cx="5760720" cy="868680"/>
          </a:xfrm>
          <a:prstGeom prst="roundRect">
            <a:avLst>
              <a:gd name="adj" fmla="val 8000"/>
            </a:avLst>
          </a:prstGeom>
          <a:solidFill>
            <a:srgbClr val="F6EBDC"/>
          </a:solidFill>
          <a:ln w="12700">
            <a:solidFill>
              <a:srgbClr val="6B72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5650992"/>
            <a:ext cx="548640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IN SCOPE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5888736"/>
            <a:ext cx="5486400" cy="54864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Confidence-blocked intenders — unsold saved items, “Probably” intent. Ethnic / occasion / fashion-forward over basics.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5650992"/>
            <a:ext cx="557784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4A555C"/>
                </a:solidFill>
                <a:latin typeface="Calibri"/>
              </a:rPr>
              <a:t>OUT OF SCOPE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8" y="5888736"/>
            <a:ext cx="5577840" cy="54864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Price-only waiters — no monetary lever exists. Rare / infrequent shoppers outside the monthly+ cadence.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" y="6601968"/>
            <a:ext cx="9326880" cy="256032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FFFFFF"/>
                </a:solidFill>
                <a:latin typeface="Calibri"/>
              </a:rPr>
              <a:t>Product Manager, Growth Team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601968"/>
            <a:ext cx="1508760" cy="256032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73152"/>
            <a:ext cx="1161288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C46B2F"/>
                </a:solidFill>
                <a:latin typeface="Calibri"/>
              </a:rPr>
              <a:t>HOW THE AI DISCOVERY ENGINE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292608"/>
            <a:ext cx="11612880" cy="50292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The engine ranks opportunities for WPCR — quality leads, price is 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822960"/>
            <a:ext cx="11612880" cy="13716"/>
          </a:xfrm>
          <a:prstGeom prst="rect">
            <a:avLst/>
          </a:prstGeom>
          <a:solidFill>
            <a:srgbClr val="C4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859536"/>
            <a:ext cx="11612880" cy="27432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4A555C"/>
                </a:solidFill>
                <a:latin typeface="Calibri"/>
              </a:rPr>
              <a:t>Job: identify, quantify, and compare opportunity areas that could move WPCR at stage 3.  </a:t>
            </a:r>
            <a:r>
              <a:rPr sz="1400" b="1" i="0" u="sng">
                <a:solidFill>
                  <a:srgbClr val="1F4E79"/>
                </a:solidFill>
                <a:latin typeface="Calibri"/>
                <a:hlinkClick r:id="rId2"/>
              </a:rPr>
              <a:t>Open the live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70432"/>
            <a:ext cx="5806440" cy="5285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4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225296"/>
            <a:ext cx="5577840" cy="27432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C46B2F"/>
                </a:solidFill>
                <a:latin typeface="Calibri"/>
              </a:rPr>
              <a:t>CLICK PATH — ASK A GROUNDED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1499616"/>
            <a:ext cx="5577840" cy="19659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1. Open the live app → tab Discovery Engine.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2. Click a theme shortcut (Fit, Quality, Price, Occasion, Comparison, Left the app) or type a PM question.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3. Click Get grounded answer.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4. Read numbered findings + “Validate in interviews”. Unsupported writer figures are discarded.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5. Right rail Opportunity comparison: headline, 424 / 7.5% / 10.8%, source-mix, blocker and reason bars.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" y="3474720"/>
            <a:ext cx="557784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OFFLINE PIPELINE  ·  LIVE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" y="3730752"/>
            <a:ext cx="5577840" cy="10515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Offline: scrape Play Store + App Store + YouTube → LLM curates gold → tag 4 dimensions (reason, blocker, comparison, outside research) → aggregate the opportunity table.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Live: Router maps the question onto the real tag vocabulary (no keyword lists) → Retrieval ranks matched signals, IDF-weighted, spread across sources → Writer drafts findings under an anti-hallucination check.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" y="4828032"/>
            <a:ext cx="557784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HOW THE NUMBERS ARE MADE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" y="5084064"/>
            <a:ext cx="5577840" cy="12801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424 = rows in the gold tagged JSON after scrape → curate → tag. Play 154 · YouTube 212 · App Store 58. No Reddit.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Blocker % = label count ÷ 340 blocker mentions (not ÷ 424 reviews).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7.5% comparison = 32 / 424 rows tagged comparison-true. 10.8% external = 46 / 424 rows that mention leaving the app.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70432"/>
            <a:ext cx="5687568" cy="5285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4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225296"/>
            <a:ext cx="5486400" cy="27432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C46B2F"/>
                </a:solidFill>
                <a:latin typeface="Calibri"/>
              </a:rPr>
              <a:t>WHAT IT FOUND — RANKED FOR WPCR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1499616"/>
            <a:ext cx="5486400" cy="50292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Quality doubt 44.7%; fit 20.3%. Price is larger at 23.8% but OUT — no monetary lever. Comparison 7.5%; leave-app 10.8%.</a:t>
            </a:r>
          </a:p>
        </p:txBody>
      </p:sp>
      <p:pic>
        <p:nvPicPr>
          <p:cNvPr id="18" name="Picture 17" descr="block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029968"/>
            <a:ext cx="5440680" cy="23317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27648" y="4389120"/>
            <a:ext cx="548640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PATTERNS (PARAPHRASED — NEVER QUOTED)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4645152"/>
            <a:ext cx="5486400" cy="10515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Quality: fabric/finish cheaper than the listing, or authenticity doubt.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Fit: size chart is not trusted without a planned exchange.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Found alt: same item checked on another app — other apps are 60.9% of outside-app mentions (YouTube 17.4% · friends 10.9% · Google 8.7%).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5687568"/>
            <a:ext cx="5486400" cy="658368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 u="none">
                <a:solidFill>
                  <a:srgbClr val="4A555C"/>
                </a:solidFill>
                <a:latin typeface="Calibri"/>
              </a:rPr>
              <a:t>Caveats: public reviews under-index the silent freeze (nobody reviews an item they never bought). Quality bucket is broad — keyword fallback on null tags can absorb service/delivery noise.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" y="6601968"/>
            <a:ext cx="9326880" cy="256032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FFFFFF"/>
                </a:solidFill>
                <a:latin typeface="Calibri"/>
              </a:rPr>
              <a:t>Product Manager, Growth Team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601968"/>
            <a:ext cx="1508760" cy="256032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73152"/>
            <a:ext cx="1161288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C46B2F"/>
                </a:solidFill>
                <a:latin typeface="Calibri"/>
              </a:rPr>
              <a:t>THE MVP — SHOPPER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292608"/>
            <a:ext cx="11612880" cy="50292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On the wishlist: ask, compare, or (demo) get it in 30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822960"/>
            <a:ext cx="11612880" cy="13716"/>
          </a:xfrm>
          <a:prstGeom prst="rect">
            <a:avLst/>
          </a:prstGeom>
          <a:solidFill>
            <a:srgbClr val="C4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859536"/>
            <a:ext cx="11612880" cy="27432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4A555C"/>
                </a:solidFill>
                <a:latin typeface="Calibri"/>
              </a:rPr>
              <a:t>Same URL, tab Fit &amp; Confidence Assistant. Grounded in this product's reviews — not the 424 discovery corpus.  </a:t>
            </a:r>
            <a:r>
              <a:rPr sz="1400" b="1" i="0" u="sng">
                <a:solidFill>
                  <a:srgbClr val="1F4E79"/>
                </a:solidFill>
                <a:latin typeface="Calibri"/>
                <a:hlinkClick r:id="rId2"/>
              </a:rPr>
              <a:t>Open deployed MVP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70432"/>
            <a:ext cx="580644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4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207008"/>
            <a:ext cx="557784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C46B2F"/>
                </a:solidFill>
                <a:latin typeface="Calibri"/>
              </a:rPr>
              <a:t>1. WISHLIST + FILTERS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1444752"/>
            <a:ext cx="5577840" cy="3657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Cards: image, brand, price, review badge. Pills All / Ethnic Wear / In stock narrow the frozen SKU. Select a card to ask about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47088"/>
            <a:ext cx="1298448" cy="292608"/>
          </a:xfrm>
          <a:prstGeom prst="roundRect">
            <a:avLst>
              <a:gd name="adj" fmla="val 20000"/>
            </a:avLst>
          </a:prstGeom>
          <a:solidFill>
            <a:srgbClr val="E6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47088"/>
            <a:ext cx="1298448" cy="29260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74519" y="1847088"/>
            <a:ext cx="1298448" cy="292608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74519" y="1847088"/>
            <a:ext cx="1298448" cy="29260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FFFFFF"/>
                </a:solidFill>
                <a:latin typeface="Calibri"/>
              </a:rPr>
              <a:t>Ethnic Wear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1847088"/>
            <a:ext cx="1298448" cy="292608"/>
          </a:xfrm>
          <a:prstGeom prst="roundRect">
            <a:avLst>
              <a:gd name="adj" fmla="val 20000"/>
            </a:avLst>
          </a:prstGeom>
          <a:solidFill>
            <a:srgbClr val="E6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847088"/>
            <a:ext cx="1298448" cy="29260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In stock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" y="2212848"/>
            <a:ext cx="1755648" cy="1627632"/>
          </a:xfrm>
          <a:prstGeom prst="roundRect">
            <a:avLst>
              <a:gd name="adj" fmla="val 8000"/>
            </a:avLst>
          </a:prstGeom>
          <a:solidFill>
            <a:srgbClr val="E6EEF4"/>
          </a:solidFill>
          <a:ln w="12700">
            <a:solidFill>
              <a:srgbClr val="C8C4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" y="2212848"/>
            <a:ext cx="1755648" cy="73152"/>
          </a:xfrm>
          <a:prstGeom prst="rect">
            <a:avLst/>
          </a:prstGeom>
          <a:solidFill>
            <a:srgbClr val="FF3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" y="2304288"/>
            <a:ext cx="164592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Libas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" y="2542032"/>
            <a:ext cx="1645920" cy="41148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4A555C"/>
                </a:solidFill>
                <a:latin typeface="Calibri"/>
              </a:rPr>
              <a:t>Embroidered Anarkali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" y="2926080"/>
            <a:ext cx="164592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A1A1A"/>
                </a:solidFill>
                <a:latin typeface="Calibri"/>
              </a:rPr>
              <a:t>Rs. 2499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3" y="3218688"/>
            <a:ext cx="1572768" cy="256032"/>
          </a:xfrm>
          <a:prstGeom prst="roundRect">
            <a:avLst>
              <a:gd name="adj" fmla="val 20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3" y="3218688"/>
            <a:ext cx="1572768" cy="256032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FFFFFF"/>
                </a:solidFill>
                <a:latin typeface="Calibri"/>
              </a:rPr>
              <a:t>Reviews: enough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0" y="2212848"/>
            <a:ext cx="1755648" cy="1627632"/>
          </a:xfrm>
          <a:prstGeom prst="roundRect">
            <a:avLst>
              <a:gd name="adj" fmla="val 8000"/>
            </a:avLst>
          </a:prstGeom>
          <a:solidFill>
            <a:srgbClr val="E6EEF4"/>
          </a:solidFill>
          <a:ln w="12700">
            <a:solidFill>
              <a:srgbClr val="C8C4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0" y="2212848"/>
            <a:ext cx="1755648" cy="73152"/>
          </a:xfrm>
          <a:prstGeom prst="rect">
            <a:avLst/>
          </a:prstGeom>
          <a:solidFill>
            <a:srgbClr val="FF3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40864" y="2304288"/>
            <a:ext cx="164592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Sassafras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40864" y="2542032"/>
            <a:ext cx="1645920" cy="41148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4A555C"/>
                </a:solidFill>
                <a:latin typeface="Calibri"/>
              </a:rPr>
              <a:t>Sequinned Gown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40864" y="2926080"/>
            <a:ext cx="164592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A1A1A"/>
                </a:solidFill>
                <a:latin typeface="Calibri"/>
              </a:rPr>
              <a:t>Rs. 3299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59152" y="3218688"/>
            <a:ext cx="1572768" cy="256032"/>
          </a:xfrm>
          <a:prstGeom prst="roundRect">
            <a:avLst>
              <a:gd name="adj" fmla="val 20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59152" y="3218688"/>
            <a:ext cx="1572768" cy="256032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FFFFFF"/>
                </a:solidFill>
                <a:latin typeface="Calibri"/>
              </a:rPr>
              <a:t>Reviews: enough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33087" y="2212848"/>
            <a:ext cx="1755648" cy="1627632"/>
          </a:xfrm>
          <a:prstGeom prst="roundRect">
            <a:avLst>
              <a:gd name="adj" fmla="val 8000"/>
            </a:avLst>
          </a:prstGeom>
          <a:solidFill>
            <a:srgbClr val="E6EEF4"/>
          </a:solidFill>
          <a:ln w="12700">
            <a:solidFill>
              <a:srgbClr val="C8C4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33087" y="2212848"/>
            <a:ext cx="1755648" cy="73152"/>
          </a:xfrm>
          <a:prstGeom prst="rect">
            <a:avLst/>
          </a:prstGeom>
          <a:solidFill>
            <a:srgbClr val="FF3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87951" y="2304288"/>
            <a:ext cx="164592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Ahalyaa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87951" y="2542032"/>
            <a:ext cx="1645920" cy="41148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4A555C"/>
                </a:solidFill>
                <a:latin typeface="Calibri"/>
              </a:rPr>
              <a:t>Kurta + Palazzo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87951" y="2926080"/>
            <a:ext cx="164592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A1A1A"/>
                </a:solidFill>
                <a:latin typeface="Calibri"/>
              </a:rPr>
              <a:t>Rs. 1899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06240" y="3218688"/>
            <a:ext cx="1572768" cy="256032"/>
          </a:xfrm>
          <a:prstGeom prst="roundRect">
            <a:avLst>
              <a:gd name="adj" fmla="val 20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06240" y="3218688"/>
            <a:ext cx="1572768" cy="256032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FFFFFF"/>
                </a:solidFill>
                <a:latin typeface="Calibri"/>
              </a:rPr>
              <a:t>Reviews: enough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1170432"/>
            <a:ext cx="5687568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4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27648" y="1207008"/>
            <a:ext cx="548640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C46B2F"/>
                </a:solidFill>
                <a:latin typeface="Calibri"/>
              </a:rPr>
              <a:t>2. STILL DECIDING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27648" y="1463040"/>
            <a:ext cx="5486400" cy="64008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Usual size + occasion + free-text question → Get answer → exactly one verdict + proof bullets from this SKU's reviews → Add to bag or Still not sure.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19088" y="2148840"/>
            <a:ext cx="5376672" cy="1664208"/>
          </a:xfrm>
          <a:prstGeom prst="roundRect">
            <a:avLst>
              <a:gd name="adj" fmla="val 8000"/>
            </a:avLst>
          </a:prstGeom>
          <a:solidFill>
            <a:srgbClr val="F8EEE4"/>
          </a:solidFill>
          <a:ln w="12700">
            <a:solidFill>
              <a:srgbClr val="C46B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0528" y="2194560"/>
            <a:ext cx="521208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C46B2F"/>
                </a:solidFill>
                <a:latin typeface="Calibri"/>
              </a:rPr>
              <a:t>WORKED EXAMPLE  ·  RUNS SMALL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0528" y="2450592"/>
            <a:ext cx="5212080" cy="12801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A1A1A"/>
                </a:solidFill>
                <a:latin typeface="Calibri"/>
              </a:rPr>
              <a:t>Verdict: </a:t>
            </a:r>
            <a:r>
              <a:rPr sz="1400" b="1" i="0" u="none">
                <a:solidFill>
                  <a:srgbClr val="1E3A5F"/>
                </a:solidFill>
                <a:latin typeface="Calibri"/>
              </a:rPr>
              <a:t>Size up, then buy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 u="none">
                <a:solidFill>
                  <a:srgbClr val="1A1A1A"/>
                </a:solidFill>
                <a:latin typeface="Calibri"/>
              </a:rPr>
              <a:t>“Go one size up from your usual — this runs a little small.”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Proof: several reviewers say it runs small and recommend ordering one size up.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92608" y="4078224"/>
            <a:ext cx="2834640" cy="2359152"/>
          </a:xfrm>
          <a:prstGeom prst="roundRect">
            <a:avLst>
              <a:gd name="adj" fmla="val 8000"/>
            </a:avLst>
          </a:prstGeom>
          <a:solidFill>
            <a:srgbClr val="E6EEF4"/>
          </a:solidFill>
          <a:ln w="12700">
            <a:solidFill>
              <a:srgbClr val="C8C4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4048" y="4133087"/>
            <a:ext cx="2651760" cy="45720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3. COMPARE 2–3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" y="4590288"/>
            <a:ext cx="2651760" cy="17373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Tick 2–3 saved items → recommendation + table. Hard cap at 3. Breaks gown-vs-kurta freeze without opening another app.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36976" y="4078224"/>
            <a:ext cx="2834640" cy="2359152"/>
          </a:xfrm>
          <a:prstGeom prst="roundRect">
            <a:avLst>
              <a:gd name="adj" fmla="val 8000"/>
            </a:avLst>
          </a:prstGeom>
          <a:solidFill>
            <a:srgbClr val="F8EEE4"/>
          </a:solidFill>
          <a:ln w="12700">
            <a:solidFill>
              <a:srgbClr val="C8C4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28416" y="4133087"/>
            <a:ext cx="2651760" cy="45720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4. 30-MIN EXPRESS (DEMO)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28416" y="4590288"/>
            <a:ext cx="2651760" cy="17373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Pincode → Check. Hub + size in stock → Get it in 30 mins. Else standard delivery. Demo lookup, not live dark stores. No coupon.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81344" y="4078224"/>
            <a:ext cx="2834640" cy="2359152"/>
          </a:xfrm>
          <a:prstGeom prst="roundRect">
            <a:avLst>
              <a:gd name="adj" fmla="val 8000"/>
            </a:avLst>
          </a:prstGeom>
          <a:solidFill>
            <a:srgbClr val="F6EBDC"/>
          </a:solidFill>
          <a:ln w="12700">
            <a:solidFill>
              <a:srgbClr val="C8C4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72784" y="4133087"/>
            <a:ext cx="2651760" cy="45720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5. COULD-HAVE — VIRTUAL TRY-ON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72784" y="4590288"/>
            <a:ext cx="2651760" cy="17373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Wanted: upload a photo, see the dress on you. Not shipped — no free API was good enough. Next iteration if a usable model exists. Not drawn as live.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125712" y="4078224"/>
            <a:ext cx="2834640" cy="2359152"/>
          </a:xfrm>
          <a:prstGeom prst="roundRect">
            <a:avLst>
              <a:gd name="adj" fmla="val 8000"/>
            </a:avLst>
          </a:prstGeom>
          <a:solidFill>
            <a:srgbClr val="E6EEF4"/>
          </a:solidFill>
          <a:ln w="12700">
            <a:solidFill>
              <a:srgbClr val="C8C4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17152" y="4133087"/>
            <a:ext cx="2651760" cy="45720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DELIBERATELY NOT BUILT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17152" y="4590288"/>
            <a:ext cx="2651760" cy="17373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No numeric confidence %. No personalised fit from order history. No support chatbot. Thin evidence → “Too few reviews” / Need more info — never guess.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6032" y="6601968"/>
            <a:ext cx="9326880" cy="256032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FFFFFF"/>
                </a:solidFill>
                <a:latin typeface="Calibri"/>
              </a:rPr>
              <a:t>Product Manager, Growth Team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24160" y="6601968"/>
            <a:ext cx="1508760" cy="256032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73152"/>
            <a:ext cx="1161288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C46B2F"/>
                </a:solidFill>
                <a:latin typeface="Calibri"/>
              </a:rPr>
              <a:t>WHO WE TALKED TO AND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292608"/>
            <a:ext cx="11612880" cy="50292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Three intenders, one freeze: they leave the app to decide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822960"/>
            <a:ext cx="11612880" cy="13716"/>
          </a:xfrm>
          <a:prstGeom prst="rect">
            <a:avLst/>
          </a:prstGeom>
          <a:solidFill>
            <a:srgbClr val="C4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859536"/>
            <a:ext cx="11612880" cy="384048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 u="none">
                <a:solidFill>
                  <a:srgbClr val="4A555C"/>
                </a:solidFill>
                <a:latin typeface="Calibri"/>
              </a:rPr>
              <a:t>Three interview cards are directional composites from the dormant-item form themes and the catalog-tied pilot — not a statistically powered sample. Screener gate: ≥1 unsold wishlist item, not 5+.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80160"/>
            <a:ext cx="3803904" cy="3246120"/>
          </a:xfrm>
          <a:prstGeom prst="roundRect">
            <a:avLst>
              <a:gd name="adj" fmla="val 8000"/>
            </a:avLst>
          </a:prstGeom>
          <a:solidFill>
            <a:srgbClr val="F8EEE4"/>
          </a:solidFill>
          <a:ln w="12700">
            <a:solidFill>
              <a:srgbClr val="C8C4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" y="1280160"/>
            <a:ext cx="91440" cy="32461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335024"/>
            <a:ext cx="3493008" cy="292608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Aadyant,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1609344"/>
            <a:ext cx="3493008" cy="292608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C46B2F"/>
                </a:solidFill>
                <a:latin typeface="Calibri"/>
              </a:rPr>
              <a:t>Occasion ethnic  ·  intent “Probably”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1938528"/>
            <a:ext cx="3493008" cy="246888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Why wishlisted: liked the look; saved for a family function.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Pain: listing photos vs threadwork/fabric in daylight.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JTBD: know if it will look cheap in person before buying.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Workaround: Google / cousin.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1" u="none">
                <a:solidFill>
                  <a:srgbClr val="1E3A5F"/>
                </a:solidFill>
                <a:latin typeface="Calibri"/>
              </a:rPr>
              <a:t>“I still don’t know if the embroidery will look cheap in daylight.”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4528" y="1280160"/>
            <a:ext cx="3803904" cy="3246120"/>
          </a:xfrm>
          <a:prstGeom prst="roundRect">
            <a:avLst>
              <a:gd name="adj" fmla="val 8000"/>
            </a:avLst>
          </a:prstGeom>
          <a:solidFill>
            <a:srgbClr val="E6EEF4"/>
          </a:solidFill>
          <a:ln w="12700">
            <a:solidFill>
              <a:srgbClr val="C8C4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24528" y="1280160"/>
            <a:ext cx="91440" cy="32461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5696" y="1335024"/>
            <a:ext cx="3493008" cy="292608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Meera, 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1609344"/>
            <a:ext cx="3493008" cy="292608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C46B2F"/>
                </a:solidFill>
                <a:latin typeface="Calibri"/>
              </a:rPr>
              <a:t>Two saved looks  ·  comparison freeze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1938528"/>
            <a:ext cx="3493008" cy="246888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Why: comparing options already on the wishlist.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Pain: gown vs kurta-set for the same evening; opens other apps.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JTBD: pick one SKU without leaving Myntra.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Workaround: YouTube unboxing + other saved piece.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1" u="none">
                <a:solidFill>
                  <a:srgbClr val="1E3A5F"/>
                </a:solidFill>
                <a:latin typeface="Calibri"/>
              </a:rPr>
              <a:t>“I keep opening the other saved piece instead of deciding.”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280160"/>
            <a:ext cx="3803904" cy="3246120"/>
          </a:xfrm>
          <a:prstGeom prst="roundRect">
            <a:avLst>
              <a:gd name="adj" fmla="val 8000"/>
            </a:avLst>
          </a:prstGeom>
          <a:solidFill>
            <a:srgbClr val="F8EEE4"/>
          </a:solidFill>
          <a:ln w="12700">
            <a:solidFill>
              <a:srgbClr val="C8C4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280160"/>
            <a:ext cx="91440" cy="32461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7616" y="1335024"/>
            <a:ext cx="3493008" cy="292608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Kabir, 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1609344"/>
            <a:ext cx="3493008" cy="292608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C46B2F"/>
                </a:solidFill>
                <a:latin typeface="Calibri"/>
              </a:rPr>
              <a:t>Fit freeze  ·  sitting 2+ weeks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6" y="1938528"/>
            <a:ext cx="3493008" cy="246888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Why: liked the look; not sure on size.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Pain: usual M vs reviews that say size up.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JTBD: a clear size call so the item leaves the list.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Workaround: order, then exchange.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1" u="none">
                <a:solidFill>
                  <a:srgbClr val="1E3A5F"/>
                </a:solidFill>
                <a:latin typeface="Calibri"/>
              </a:rPr>
              <a:t>“I’ll order when I know whether to take M or L.”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8" y="4617720"/>
            <a:ext cx="3803904" cy="18470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" y="4663440"/>
            <a:ext cx="3584448" cy="292608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C46B2F"/>
                </a:solidFill>
                <a:latin typeface="Calibri"/>
              </a:rPr>
              <a:t>FORM  ·  PRIMARY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" y="4956048"/>
            <a:ext cx="3584448" cy="141732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Live Google Form  ·  </a:t>
            </a:r>
            <a:r>
              <a:rPr sz="1400" b="1" i="0" u="sng">
                <a:solidFill>
                  <a:srgbClr val="1F4E79"/>
                </a:solidFill>
                <a:latin typeface="Calibri"/>
                <a:hlinkClick r:id="rId2"/>
              </a:rPr>
              <a:t>open the viewform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Recruited pilot, n = 6, monthly+ fashion, ≥1 unsold item. Why saved, still intend THIS item, main blocker now, unstick in 30 days, info needed, alternatives, outside the app, would an assistant help decide faster.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24528" y="4617720"/>
            <a:ext cx="3803904" cy="18470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34256" y="4663440"/>
            <a:ext cx="3584448" cy="292608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C46B2F"/>
                </a:solidFill>
                <a:latin typeface="Calibri"/>
              </a:rPr>
              <a:t>1:1 INTERVIEW INSIGHTS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34256" y="4956048"/>
            <a:ext cx="3584448" cy="141732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Confidence (quality / compare / fit) dominates these intenders. They leave the app to decide. Aadyant = quality, Meera = compare, Kabir = fit. Buying a different wishlisted SKU in 30 days is context only — not a gate.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56448" y="4617720"/>
            <a:ext cx="3803904" cy="18470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66175" y="4663440"/>
            <a:ext cx="3584448" cy="292608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C46B2F"/>
                </a:solidFill>
                <a:latin typeface="Calibri"/>
              </a:rPr>
              <a:t>SECONDARY  ·  USER BEHAVIOUR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6175" y="4956048"/>
            <a:ext cx="3584448" cy="141732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Corpus: leave-app 10.8% of tagged rows; when they leave, other shopping apps are 60.9% of those mentions. Do not merge with 6/6. Reviews under-index the silent freeze — the form probes it directly.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032" y="6601968"/>
            <a:ext cx="9326880" cy="256032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FFFFFF"/>
                </a:solidFill>
                <a:latin typeface="Calibri"/>
              </a:rPr>
              <a:t>Product Manager, Growth Team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601968"/>
            <a:ext cx="1508760" cy="256032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73152"/>
            <a:ext cx="1161288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C46B2F"/>
                </a:solidFill>
                <a:latin typeface="Calibri"/>
              </a:rPr>
              <a:t>WHAT PRIMARY RESEARCH CONFIRMED, AND CHANGED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292608"/>
            <a:ext cx="11612880" cy="50292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Corpus ranks price #2; these intenders are blocked by confidence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822960"/>
            <a:ext cx="11612880" cy="13716"/>
          </a:xfrm>
          <a:prstGeom prst="rect">
            <a:avLst/>
          </a:prstGeom>
          <a:solidFill>
            <a:srgbClr val="C4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859536"/>
            <a:ext cx="11612880" cy="292608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4A555C"/>
                </a:solidFill>
                <a:latin typeface="Calibri"/>
              </a:rPr>
              <a:t>Confidence dominates for real intenders, even though price ranks #2 corpus-wide. Personas on slide 5 illustrate the cluster.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07008"/>
            <a:ext cx="5806440" cy="4160520"/>
          </a:xfrm>
          <a:prstGeom prst="roundRect">
            <a:avLst>
              <a:gd name="adj" fmla="val 8000"/>
            </a:avLst>
          </a:prstGeom>
          <a:solidFill>
            <a:srgbClr val="E6EEF4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280160"/>
            <a:ext cx="5532120" cy="32004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CONFIRMED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645920"/>
            <a:ext cx="5532120" cy="35661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•  6/6 left the app to do something before deciding — the confidence gap is real, not theoretical.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•  6/6 main blockers sit in the confidence cluster: comparison, quality, occasion, fit. Price was not the main blocker for anyone in this pilot (0/6).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•  4/6 named similar-buyer reviews/photos as what would unstick them; another 1/6 wanted clearer fit/sizing.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•  4/6 said an in-app assistant would have helped them decide faster (2/6 Maybe, 0 No) — that is what the MVP delivers.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•  Aadyant (quality), Meera (compare), Kabir (fit) are the three faces of the same freeze.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•  Intent when saved: 4/6 Probably, 2/6 Yes, definitely — stuck in ambiguity, not abandoned.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07008"/>
            <a:ext cx="5687568" cy="4160520"/>
          </a:xfrm>
          <a:prstGeom prst="roundRect">
            <a:avLst>
              <a:gd name="adj" fmla="val 8000"/>
            </a:avLst>
          </a:prstGeom>
          <a:solidFill>
            <a:srgbClr val="F8EEE4"/>
          </a:solidFill>
          <a:ln w="12700">
            <a:solidFill>
              <a:srgbClr val="C46B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280160"/>
            <a:ext cx="5394960" cy="32004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C46B2F"/>
                </a:solidFill>
                <a:latin typeface="Calibri"/>
              </a:rPr>
              <a:t>CHANGED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1645920"/>
            <a:ext cx="5394960" cy="35661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•  Discovery corpus (n = 424): price is the #2 blocker overall at 23.8%.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•  These intenders (n = 6): price is 0/6 as the main blocker; the confidence cluster is 6/6.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•  So the target is the confidence cluster, not the price waiters — which is out of scope regardless, per the no-monetary-incentives constraint.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•  Public reviews under-index freeze; the form is the second layer, not a combined rate.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•  Read directionally, not statistically: n = 6 is a recruited pilot, not a powered sample.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" y="5486400"/>
            <a:ext cx="116128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4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5559552"/>
            <a:ext cx="11338560" cy="84124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Two evidence layers, never merged: public reviews mention leaving the app in 10.8% of tagged rows; survey respondents (n = 6) almost all did. Directional context, not one combined rate.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6601968"/>
            <a:ext cx="9326880" cy="256032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FFFFFF"/>
                </a:solidFill>
                <a:latin typeface="Calibri"/>
              </a:rPr>
              <a:t>Product Manager, Growth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601968"/>
            <a:ext cx="1508760" cy="256032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73152"/>
            <a:ext cx="1161288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C46B2F"/>
                </a:solidFill>
                <a:latin typeface="Calibri"/>
              </a:rPr>
              <a:t>THE PROBLEM, PRECISELY DEFINED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292608"/>
            <a:ext cx="11612880" cy="50292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No in-app way to resolve fit, quality, or compare on a saved item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822960"/>
            <a:ext cx="11612880" cy="13716"/>
          </a:xfrm>
          <a:prstGeom prst="rect">
            <a:avLst/>
          </a:prstGeom>
          <a:solidFill>
            <a:srgbClr val="C4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2608" y="896112"/>
            <a:ext cx="3803904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4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932688"/>
            <a:ext cx="3621024" cy="237744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C46B2F"/>
                </a:solidFill>
                <a:latin typeface="Calibri"/>
              </a:rPr>
              <a:t>SEGMENT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170432"/>
            <a:ext cx="3621024" cy="859536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24–30, Tier 1–2, monthly+ fashion. Must: ≥1 unsold saved item (not 5+) with “Probably” intent on ethnic/occasion or fashion-forward. 5+ / dormant 2+ weeks filters quotes, not the population.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896112"/>
            <a:ext cx="3803904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4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8" y="932688"/>
            <a:ext cx="3621024" cy="237744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C46B2F"/>
                </a:solidFill>
                <a:latin typeface="Calibri"/>
              </a:rPr>
              <a:t>PRODUCT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1170432"/>
            <a:ext cx="3621024" cy="859536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Decision-confidence rate — funnel stage 3 (confidence resolution). Lift here is how WPCR moves.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896112"/>
            <a:ext cx="3803904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4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932688"/>
            <a:ext cx="3621024" cy="237744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C46B2F"/>
                </a:solidFill>
                <a:latin typeface="Calibri"/>
              </a:rPr>
              <a:t>ROOT CAUSE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1170432"/>
            <a:ext cx="3621024" cy="859536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No in-app mechanism at reconsideration to resolve fit, quality-vs-photo, or comparison doubt. Users leave; the loop rarely closes.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" y="2157984"/>
            <a:ext cx="3803904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4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2194560"/>
            <a:ext cx="3621024" cy="237744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C46B2F"/>
                </a:solidFill>
                <a:latin typeface="Calibri"/>
              </a:rPr>
              <a:t>WORKAROUNDS TODAY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2432303"/>
            <a:ext cx="3621024" cy="859536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Order two sizes and return · ask friends · visit stores · search off-app reviews · let the wishlist grow forever.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24528" y="2157984"/>
            <a:ext cx="3803904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4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5968" y="2194560"/>
            <a:ext cx="3621024" cy="237744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C46B2F"/>
                </a:solidFill>
                <a:latin typeface="Calibri"/>
              </a:rPr>
              <a:t>USER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2432303"/>
            <a:ext cx="3621024" cy="859536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Less anxiety, fewer returns, a faster yes-or-no on high-stakes occasion buys.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56448" y="2157984"/>
            <a:ext cx="3803904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4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2194560"/>
            <a:ext cx="3621024" cy="237744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C46B2F"/>
                </a:solidFill>
                <a:latin typeface="Calibri"/>
              </a:rPr>
              <a:t>BUSINESS 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2432303"/>
            <a:ext cx="3621024" cy="859536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Higher-AOV ethnic demand already saved converts — without discounting.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" y="3456432"/>
            <a:ext cx="11612880" cy="292608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Why this segment: already expressed intent (saved); high cost of being wrong (occasion, returns); in-app at reconsideration; the brief forbids discounts so we cannot buy conversion from price-waiters.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" y="3749039"/>
            <a:ext cx="1161288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C46B2F"/>
                </a:solidFill>
                <a:latin typeface="Calibri"/>
              </a:rPr>
              <a:t>HYPOTHESES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" y="3986784"/>
            <a:ext cx="11612880" cy="64008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1. Review-grounded verdicts on the card beat leaving for Google / YouTube.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2. Compare 2–3 saved items beats open-ended browsing.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3. A 30-min prompt (demo) can add urgency without a coupon.  Riskiest: they still will not buy without a physical / photo try-on — that is the named future, not this MVP.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292608" y="4645152"/>
          <a:ext cx="1161287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931920"/>
                <a:gridCol w="4754879"/>
              </a:tblGrid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 u="none">
                          <a:solidFill>
                            <a:srgbClr val="FFFFFF"/>
                          </a:solidFill>
                          <a:latin typeface="Calibri"/>
                        </a:rPr>
                        <a:t>Player / behaviour</a:t>
                      </a:r>
                    </a:p>
                  </a:txBody>
                  <a:tcPr marL="45720" marR="45720" marT="27432" marB="27432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 u="none">
                          <a:solidFill>
                            <a:srgbClr val="FFFFFF"/>
                          </a:solidFill>
                          <a:latin typeface="Calibri"/>
                        </a:rPr>
                        <a:t>What they do</a:t>
                      </a:r>
                    </a:p>
                  </a:txBody>
                  <a:tcPr marL="45720" marR="45720" marT="27432" marB="27432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 u="none">
                          <a:solidFill>
                            <a:srgbClr val="FFFFFF"/>
                          </a:solidFill>
                          <a:latin typeface="Calibri"/>
                        </a:rPr>
                        <a:t>Gap this MVP fills</a:t>
                      </a:r>
                    </a:p>
                  </a:txBody>
                  <a:tcPr marL="45720" marR="45720" marT="27432" marB="27432">
                    <a:solidFill>
                      <a:srgbClr val="1E3A5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Status quo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Two sizes + return, friends, YouTube, Instagram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No in-app close on the saved SKU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 u="sng">
                          <a:solidFill>
                            <a:srgbClr val="1F4E79"/>
                          </a:solidFill>
                          <a:latin typeface="Calibri"/>
                          <a:hlinkClick r:id="rId2"/>
                        </a:rPr>
                        <a:t>Amazon / Flipkart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sng">
                          <a:solidFill>
                            <a:srgbClr val="1F4E79"/>
                          </a:solidFill>
                          <a:latin typeface="Calibri"/>
                          <a:hlinkClick r:id="rId3"/>
                        </a:rPr>
                        <a:t>Size charts, Q&amp;A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Not Myntra wishlist; not occasion/threadwork grounded in this listing's reviews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 u="sng">
                          <a:solidFill>
                            <a:srgbClr val="1F4E79"/>
                          </a:solidFill>
                          <a:latin typeface="Calibri"/>
                          <a:hlinkClick r:id="rId4"/>
                        </a:rPr>
                        <a:t>AJIO / Nykaa Fashion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sng">
                          <a:solidFill>
                            <a:srgbClr val="1F4E79"/>
                          </a:solidFill>
                          <a:latin typeface="Calibri"/>
                          <a:hlinkClick r:id="rId5"/>
                        </a:rPr>
                        <a:t>Same wishlist freeze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Same confidence hole — no in-app resolve on the saved SKU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Virtual try-on (paid / studio)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Photo on body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Better for drape; not free here — listed as could-have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 u="none">
                          <a:solidFill>
                            <a:srgbClr val="1E3A5F"/>
                          </a:solidFill>
                          <a:latin typeface="Calibri"/>
                        </a:rPr>
                        <a:t>This MVP</a:t>
                      </a:r>
                    </a:p>
                  </a:txBody>
                  <a:tcPr marL="45720" marR="45720" marT="27432" marB="27432">
                    <a:solidFill>
                      <a:srgbClr val="F8EE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 u="none">
                          <a:solidFill>
                            <a:srgbClr val="1E3A5F"/>
                          </a:solidFill>
                          <a:latin typeface="Calibri"/>
                        </a:rPr>
                        <a:t>In-wishlist agent + compare + demo 30-min</a:t>
                      </a:r>
                    </a:p>
                  </a:txBody>
                  <a:tcPr marL="45720" marR="45720" marT="27432" marB="27432">
                    <a:solidFill>
                      <a:srgbClr val="F8EE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 u="none">
                          <a:solidFill>
                            <a:srgbClr val="1E3A5F"/>
                          </a:solidFill>
                          <a:latin typeface="Calibri"/>
                        </a:rPr>
                        <a:t>Grounded yes/no without money; try-on not shipped</a:t>
                      </a:r>
                    </a:p>
                  </a:txBody>
                  <a:tcPr marL="45720" marR="45720" marT="27432" marB="27432">
                    <a:solidFill>
                      <a:srgbClr val="F8EEE4"/>
                    </a:solidFill>
                  </a:tcPr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" y="6601968"/>
            <a:ext cx="9326880" cy="256032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FFFFFF"/>
                </a:solidFill>
                <a:latin typeface="Calibri"/>
              </a:rPr>
              <a:t>Product Manager, Growth Team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601968"/>
            <a:ext cx="1508760" cy="256032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73152"/>
            <a:ext cx="1161288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C46B2F"/>
                </a:solidFill>
                <a:latin typeface="Calibri"/>
              </a:rPr>
              <a:t>THE MVP: HOW IT SOLVES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292608"/>
            <a:ext cx="11612880" cy="50292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The MVP closes that gap on the card — without a coupon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822960"/>
            <a:ext cx="11612880" cy="13716"/>
          </a:xfrm>
          <a:prstGeom prst="rect">
            <a:avLst/>
          </a:prstGeom>
          <a:solidFill>
            <a:srgbClr val="C4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859536"/>
            <a:ext cx="11612880" cy="27432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4A555C"/>
                </a:solidFill>
                <a:latin typeface="Calibri"/>
              </a:rPr>
              <a:t>Problem on slide 7 → solution on the wishlist card. Not a second product tour.  </a:t>
            </a:r>
            <a:r>
              <a:rPr sz="1400" b="1" i="0" u="sng">
                <a:solidFill>
                  <a:srgbClr val="1F4E79"/>
                </a:solidFill>
                <a:latin typeface="Calibri"/>
                <a:hlinkClick r:id="rId2"/>
              </a:rPr>
              <a:t>Deployed MVP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170432"/>
          <a:ext cx="69037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886200"/>
              </a:tblGrid>
              <a:tr h="46228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 u="none">
                          <a:solidFill>
                            <a:srgbClr val="FFFFFF"/>
                          </a:solidFill>
                          <a:latin typeface="Calibri"/>
                        </a:rPr>
                        <a:t>Slide 7 cell</a:t>
                      </a:r>
                    </a:p>
                  </a:txBody>
                  <a:tcPr marL="45720" marR="45720" marT="27432" marB="27432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 u="none">
                          <a:solidFill>
                            <a:srgbClr val="FFFFFF"/>
                          </a:solidFill>
                          <a:latin typeface="Calibri"/>
                        </a:rPr>
                        <a:t>MVP response</a:t>
                      </a:r>
                    </a:p>
                  </a:txBody>
                  <a:tcPr marL="45720" marR="45720" marT="27432" marB="27432">
                    <a:solidFill>
                      <a:srgbClr val="1E3A5F"/>
                    </a:solidFill>
                  </a:tcPr>
                </a:tc>
              </a:tr>
              <a:tr h="46228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Root cause: no in-app resolve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Still deciding sits on the wishlist card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Quality vs photo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Reviews for this SKU; proof bullets beside the verdict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</a:tr>
              <a:tr h="46228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Fit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Usual size + Size up, then buy / Need more info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Comparison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Compare 2–3 saved items (hard cap)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</a:tr>
              <a:tr h="46228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Workaround: leave app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Keep the loop on Myntra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Workaround: two sizes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Verdict instead of guessing; returns as guardrail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</a:tr>
              <a:tr h="46228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No urgency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Express demo (secondary, not the hero)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Physical try-on still missing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Honest could-have; not faked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33488" y="1170432"/>
            <a:ext cx="4572000" cy="2331720"/>
          </a:xfrm>
          <a:prstGeom prst="roundRect">
            <a:avLst>
              <a:gd name="adj" fmla="val 8000"/>
            </a:avLst>
          </a:prstGeom>
          <a:solidFill>
            <a:srgbClr val="F8EEE4"/>
          </a:solidFill>
          <a:ln w="12700">
            <a:solidFill>
              <a:srgbClr val="C46B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43216" y="1225296"/>
            <a:ext cx="4352544" cy="27432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C46B2F"/>
                </a:solidFill>
                <a:latin typeface="Calibri"/>
              </a:rPr>
              <a:t>WORKED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43216" y="1517904"/>
            <a:ext cx="4352544" cy="1874519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A1A1A"/>
                </a:solidFill>
                <a:latin typeface="Calibri"/>
              </a:rPr>
              <a:t>Verdict: </a:t>
            </a:r>
            <a:r>
              <a:rPr sz="1400" b="1" i="0" u="none">
                <a:solidFill>
                  <a:srgbClr val="1E3A5F"/>
                </a:solidFill>
                <a:latin typeface="Calibri"/>
              </a:rPr>
              <a:t>Size up, then buy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 u="none">
                <a:solidFill>
                  <a:srgbClr val="1A1A1A"/>
                </a:solidFill>
                <a:latin typeface="Calibri"/>
              </a:rPr>
              <a:t>“Go one size up from your usual — this runs a little small.”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From reviews: several reviewers say it runs small and recommend ordering one size up.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Then: Add to bag  or  Still not sure.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33488" y="3621024"/>
            <a:ext cx="4572000" cy="1709928"/>
          </a:xfrm>
          <a:prstGeom prst="roundRect">
            <a:avLst>
              <a:gd name="adj" fmla="val 8000"/>
            </a:avLst>
          </a:prstGeom>
          <a:solidFill>
            <a:srgbClr val="E6EEF4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43216" y="3675887"/>
            <a:ext cx="4352544" cy="27432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DELIBERATELY NOT BUILT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43216" y="3968496"/>
            <a:ext cx="4352544" cy="12801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No numeric confidence score of any kind.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No personalised fit from the shopper's own order history.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No customer-support chatbot.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Thin evidence → Too few reviews / Need more info — never guesses.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" y="5449824"/>
            <a:ext cx="1161288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4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5522976"/>
            <a:ext cx="11338560" cy="877824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</a:rPr>
              <a:t>Golden thread: WPCR → stage-3 decision confidence → discovery ranks quality/fit in and price out → research confirms confidence for intenders → in-wishlist assistant (+ compare, + demo 30-min). Express is a secondary urgency nudge. Try-on is named, not shipped.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" y="6601968"/>
            <a:ext cx="9326880" cy="256032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FFFFFF"/>
                </a:solidFill>
                <a:latin typeface="Calibri"/>
              </a:rPr>
              <a:t>Product Manager, Growth 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601968"/>
            <a:ext cx="1508760" cy="256032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73152"/>
            <a:ext cx="1161288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C46B2F"/>
                </a:solidFill>
                <a:latin typeface="Calibri"/>
              </a:rPr>
              <a:t>HOW WE’LL KNOW IT’S 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292608"/>
            <a:ext cx="11612880" cy="50292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WPCR is the outcome; engagement, resolution, and guardrails tell us it’s real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822960"/>
            <a:ext cx="11612880" cy="13716"/>
          </a:xfrm>
          <a:prstGeom prst="rect">
            <a:avLst/>
          </a:prstGeom>
          <a:solidFill>
            <a:srgbClr val="C4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859536"/>
            <a:ext cx="11612880" cy="27432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4A555C"/>
                </a:solidFill>
                <a:latin typeface="Calibri"/>
              </a:rPr>
              <a:t>Each metric has a definition, what it measures, and why it was chosen. No invented target percentages.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01168" y="1152144"/>
          <a:ext cx="117957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965960"/>
                <a:gridCol w="3246120"/>
                <a:gridCol w="2331720"/>
                <a:gridCol w="3017520"/>
              </a:tblGrid>
              <a:tr h="66294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 u="none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45720" marR="45720" marT="27432" marB="27432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 u="none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45720" marR="45720" marT="27432" marB="27432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 u="none">
                          <a:solidFill>
                            <a:srgbClr val="FFFFFF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marL="45720" marR="45720" marT="27432" marB="27432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 u="none">
                          <a:solidFill>
                            <a:srgbClr val="FFFFFF"/>
                          </a:solidFill>
                          <a:latin typeface="Calibri"/>
                        </a:rPr>
                        <a:t>What it measures</a:t>
                      </a:r>
                    </a:p>
                  </a:txBody>
                  <a:tcPr marL="45720" marR="45720" marT="27432" marB="27432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 u="none">
                          <a:solidFill>
                            <a:srgbClr val="FFFFFF"/>
                          </a:solidFill>
                          <a:latin typeface="Calibri"/>
                        </a:rPr>
                        <a:t>Why we chose it</a:t>
                      </a:r>
                    </a:p>
                  </a:txBody>
                  <a:tcPr marL="45720" marR="45720" marT="27432" marB="27432">
                    <a:solidFill>
                      <a:srgbClr val="1E3A5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North star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WPCR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% who buy ≥1 wishlisted item within 30 days of the add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The brief’s business outcome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Every slide exists to move this, without money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Leading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Assistant engagement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% of in-scope wishlist sessions that open Still deciding, Compare, or Express check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Whether the tool is found at hesitation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If they never open it, WPCR cannot move via this lever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Leading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Resolution rate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% of uses ending in add-to-bag, “this helped”, or a clear no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Doubt actually closed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A confident no is a success (better than freeze)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Leading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Express attach (eligible pins only)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% of eligible pin checks that bag as Express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Whether urgency works without a coupon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Optional; must not outrank confidence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Guardrail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Return rate (fit/quality SKUs)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Returns ÷ orders on items that used the assistant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False confidence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A wrong “Go for it” would show up here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Guardrail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Wishlist-add rate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Adds to wishlist per session / user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Saving behaviour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Tool should resolve doubt, not scare people off saving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Guardrail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Fit / quality support contacts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Contacts tagged fit or fabric/photo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Whether in-app answers absorb those questions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Expected to fall if the assistant works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" y="6601968"/>
            <a:ext cx="9326880" cy="256032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FFFFFF"/>
                </a:solidFill>
                <a:latin typeface="Calibri"/>
              </a:rPr>
              <a:t>Product Manager, Growth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601968"/>
            <a:ext cx="1508760" cy="256032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73152"/>
            <a:ext cx="1161288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C46B2F"/>
                </a:solidFill>
                <a:latin typeface="Calibri"/>
              </a:rPr>
              <a:t>RISKS AND HOW WE’D DE-RISK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292608"/>
            <a:ext cx="11612880" cy="50292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Solution-specific risks, and the steps already shipped to de-risk them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822960"/>
            <a:ext cx="11612880" cy="13716"/>
          </a:xfrm>
          <a:prstGeom prst="rect">
            <a:avLst/>
          </a:prstGeom>
          <a:solidFill>
            <a:srgbClr val="C4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859536"/>
            <a:ext cx="1161288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4A555C"/>
                </a:solidFill>
                <a:latin typeface="Calibri"/>
              </a:rPr>
              <a:t>Most guardrails are already shipped; discoverability and try-on are planned. Standing constraint: never a discount, coupon, or cashback tool.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01168" y="1133856"/>
          <a:ext cx="11795760" cy="5321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240280"/>
                <a:gridCol w="5486400"/>
                <a:gridCol w="1920240"/>
              </a:tblGrid>
              <a:tr h="665226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 u="none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45720" marR="45720" marT="27432" marB="27432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 u="none">
                          <a:solidFill>
                            <a:srgbClr val="FFFFFF"/>
                          </a:solidFill>
                          <a:latin typeface="Calibri"/>
                        </a:rPr>
                        <a:t>Why it matters</a:t>
                      </a:r>
                    </a:p>
                  </a:txBody>
                  <a:tcPr marL="45720" marR="45720" marT="27432" marB="27432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 u="none">
                          <a:solidFill>
                            <a:srgbClr val="FFFFFF"/>
                          </a:solidFill>
                          <a:latin typeface="Calibri"/>
                        </a:rPr>
                        <a:t>Mitigation steps</a:t>
                      </a:r>
                    </a:p>
                  </a:txBody>
                  <a:tcPr marL="45720" marR="45720" marT="27432" marB="27432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 u="none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45720" marR="45720" marT="27432" marB="27432">
                    <a:solidFill>
                      <a:srgbClr val="1E3A5F"/>
                    </a:solidFill>
                  </a:tcPr>
                </a:tc>
              </a:tr>
              <a:tr h="665226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Hallucinated fit / quality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Wrong buy → returns (guardrail)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Writer sees only supplied reviews; verify figures vs aggregate; discard unsupported counts; fallback shows closest reviews, never a fake verdict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 u="none">
                          <a:solidFill>
                            <a:srgbClr val="1E3A5F"/>
                          </a:solidFill>
                          <a:latin typeface="Calibri"/>
                        </a:rPr>
                        <a:t>SHIPPED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</a:tr>
              <a:tr h="665226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Thin evidence on new SKUs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Guessing is worse than freeze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Badge Too few reviews; verdict Need more info; demo includes a thin-review item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 u="none">
                          <a:solidFill>
                            <a:srgbClr val="1E3A5F"/>
                          </a:solidFill>
                          <a:latin typeface="Calibri"/>
                        </a:rPr>
                        <a:t>SHIPPED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</a:tr>
              <a:tr h="665226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Distrust of “AI”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They will not use it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Proof bullets from real reviews beside every answer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 u="none">
                          <a:solidFill>
                            <a:srgbClr val="1E3A5F"/>
                          </a:solidFill>
                          <a:latin typeface="Calibri"/>
                        </a:rPr>
                        <a:t>SHIPPED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</a:tr>
              <a:tr h="665226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Comparison overload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More freeze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Hard cap 2–3 items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 u="none">
                          <a:solidFill>
                            <a:srgbClr val="1E3A5F"/>
                          </a:solidFill>
                          <a:latin typeface="Calibri"/>
                        </a:rPr>
                        <a:t>SHIPPED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</a:tr>
              <a:tr h="665226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Buried in a hub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Engagement leading stays ~0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Embed on the wishlist card at hesitation, not a separate hub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 u="none">
                          <a:solidFill>
                            <a:srgbClr val="C46B2F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marL="45720" marR="45720" marT="27432" marB="27432">
                    <a:solidFill>
                      <a:srgbClr val="F8EEE4"/>
                    </a:solidFill>
                  </a:tcPr>
                </a:tc>
              </a:tr>
              <a:tr h="665226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30-min read as live ops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Credibility hit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Copy + data = demo hubs/prefixes; ineligible pin or missing size → standard delivery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 u="none">
                          <a:solidFill>
                            <a:srgbClr val="1E3A5F"/>
                          </a:solidFill>
                          <a:latin typeface="Calibri"/>
                        </a:rPr>
                        <a:t>SHIPPED (demo)</a:t>
                      </a:r>
                    </a:p>
                  </a:txBody>
                  <a:tcPr marL="45720" marR="45720" marT="27432" marB="27432">
                    <a:solidFill>
                      <a:srgbClr val="E6EEF4"/>
                    </a:solidFill>
                  </a:tcPr>
                </a:tc>
              </a:tr>
              <a:tr h="665226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Need physical try-on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Riskiest hypothesis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A1A"/>
                          </a:solidFill>
                          <a:latin typeface="Calibri"/>
                        </a:rPr>
                        <a:t>Do not fake try-on; name it as next if a free/good model exists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 u="none">
                          <a:solidFill>
                            <a:srgbClr val="C46B2F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marL="45720" marR="45720" marT="27432" marB="27432">
                    <a:solidFill>
                      <a:srgbClr val="F8EEE4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" y="6601968"/>
            <a:ext cx="9326880" cy="256032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FFFFFF"/>
                </a:solidFill>
                <a:latin typeface="Calibri"/>
              </a:rPr>
              <a:t>Product Manager, Growth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601968"/>
            <a:ext cx="1508760" cy="256032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